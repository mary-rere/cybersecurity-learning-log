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1FBDD-F725-4F20-B646-5DDE89F6AB4E}" v="5" dt="2026-09-02T18:21:34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Nyerere" userId="67f06071e6e47045" providerId="LiveId" clId="{337F21E2-DAF5-45CA-959E-A842DA4FB00E}"/>
    <pc:docChg chg="undo redo custSel modSld modShowInfo">
      <pc:chgData name="Mary Nyerere" userId="67f06071e6e47045" providerId="LiveId" clId="{337F21E2-DAF5-45CA-959E-A842DA4FB00E}" dt="2026-09-04T06:13:17.871" v="223" actId="2744"/>
      <pc:docMkLst>
        <pc:docMk/>
      </pc:docMkLst>
      <pc:sldChg chg="addSp delSp modSp mod delAnim">
        <pc:chgData name="Mary Nyerere" userId="67f06071e6e47045" providerId="LiveId" clId="{337F21E2-DAF5-45CA-959E-A842DA4FB00E}" dt="2026-09-03T06:19:14.452" v="222" actId="1036"/>
        <pc:sldMkLst>
          <pc:docMk/>
          <pc:sldMk cId="0" sldId="256"/>
        </pc:sldMkLst>
        <pc:spChg chg="mod">
          <ac:chgData name="Mary Nyerere" userId="67f06071e6e47045" providerId="LiveId" clId="{337F21E2-DAF5-45CA-959E-A842DA4FB00E}" dt="2026-09-03T06:19:14.452" v="222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y Nyerere" userId="67f06071e6e47045" providerId="LiveId" clId="{337F21E2-DAF5-45CA-959E-A842DA4FB00E}" dt="2026-09-02T18:22:47.483" v="145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delAnim">
        <pc:chgData name="Mary Nyerere" userId="67f06071e6e47045" providerId="LiveId" clId="{337F21E2-DAF5-45CA-959E-A842DA4FB00E}" dt="2026-09-02T19:22:12.334" v="172" actId="478"/>
        <pc:sldMkLst>
          <pc:docMk/>
          <pc:sldMk cId="0" sldId="257"/>
        </pc:sldMkLst>
      </pc:sldChg>
      <pc:sldChg chg="addSp delSp modSp mod delAnim">
        <pc:chgData name="Mary Nyerere" userId="67f06071e6e47045" providerId="LiveId" clId="{337F21E2-DAF5-45CA-959E-A842DA4FB00E}" dt="2026-09-02T19:21:49.703" v="169" actId="478"/>
        <pc:sldMkLst>
          <pc:docMk/>
          <pc:sldMk cId="0" sldId="258"/>
        </pc:sldMkLst>
      </pc:sldChg>
      <pc:sldChg chg="addSp delSp modSp mod delAnim">
        <pc:chgData name="Mary Nyerere" userId="67f06071e6e47045" providerId="LiveId" clId="{337F21E2-DAF5-45CA-959E-A842DA4FB00E}" dt="2026-09-02T19:21:56.915" v="170" actId="478"/>
        <pc:sldMkLst>
          <pc:docMk/>
          <pc:sldMk cId="0" sldId="259"/>
        </pc:sldMkLst>
        <pc:spChg chg="mod">
          <ac:chgData name="Mary Nyerere" userId="67f06071e6e47045" providerId="LiveId" clId="{337F21E2-DAF5-45CA-959E-A842DA4FB00E}" dt="2026-09-02T18:22:36.460" v="138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 delAnim">
        <pc:chgData name="Mary Nyerere" userId="67f06071e6e47045" providerId="LiveId" clId="{337F21E2-DAF5-45CA-959E-A842DA4FB00E}" dt="2026-09-02T19:22:01.237" v="171" actId="478"/>
        <pc:sldMkLst>
          <pc:docMk/>
          <pc:sldMk cId="0" sldId="260"/>
        </pc:sldMkLst>
      </pc:sldChg>
      <pc:sldChg chg="addSp delSp modSp mod delAnim">
        <pc:chgData name="Mary Nyerere" userId="67f06071e6e47045" providerId="LiveId" clId="{337F21E2-DAF5-45CA-959E-A842DA4FB00E}" dt="2026-09-03T06:01:52.019" v="221" actId="20577"/>
        <pc:sldMkLst>
          <pc:docMk/>
          <pc:sldMk cId="0" sldId="261"/>
        </pc:sldMkLst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4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8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10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13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20" creationId="{00000000-0000-0000-0000-000000000000}"/>
          </ac:spMkLst>
        </pc:spChg>
        <pc:spChg chg="add del">
          <ac:chgData name="Mary Nyerere" userId="67f06071e6e47045" providerId="LiveId" clId="{337F21E2-DAF5-45CA-959E-A842DA4FB00E}" dt="2026-09-03T06:01:27.166" v="196" actId="478"/>
          <ac:spMkLst>
            <pc:docMk/>
            <pc:sldMk cId="0" sldId="261"/>
            <ac:spMk id="23" creationId="{00000000-0000-0000-0000-000000000000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29" creationId="{A2129707-2EDA-0A77-A5FB-C54401F4CB9B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31" creationId="{7552F336-0419-4D38-FD30-E25A7E3D3DCE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33" creationId="{C2B07F9C-98E4-F5E2-FF4A-AA607AECC01F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37" creationId="{0D2E4A59-B397-5587-69AE-D0DAFF035F73}"/>
          </ac:spMkLst>
        </pc:spChg>
        <pc:spChg chg="mod">
          <ac:chgData name="Mary Nyerere" userId="67f06071e6e47045" providerId="LiveId" clId="{337F21E2-DAF5-45CA-959E-A842DA4FB00E}" dt="2026-09-03T06:01:30.077" v="199" actId="14100"/>
          <ac:spMkLst>
            <pc:docMk/>
            <pc:sldMk cId="0" sldId="261"/>
            <ac:spMk id="39" creationId="{94AD2011-2963-8705-1236-1B32EC78921F}"/>
          </ac:spMkLst>
        </pc:spChg>
        <pc:spChg chg="add del mod">
          <ac:chgData name="Mary Nyerere" userId="67f06071e6e47045" providerId="LiveId" clId="{337F21E2-DAF5-45CA-959E-A842DA4FB00E}" dt="2026-09-03T06:01:52.019" v="221" actId="20577"/>
          <ac:spMkLst>
            <pc:docMk/>
            <pc:sldMk cId="0" sldId="261"/>
            <ac:spMk id="47" creationId="{A88E0007-228D-80BE-0D30-4E638774F7A8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57" creationId="{41A7808E-C044-D973-5A41-E1850EC2217A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61" creationId="{A96172BE-6214-A716-A912-BCAA26BB77D9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63" creationId="{067D27B2-43A8-B216-8AE2-1DB33E7A1A1A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65" creationId="{0909821B-6C9D-D8CF-9DA9-EE4F50202D6F}"/>
          </ac:spMkLst>
        </pc:spChg>
        <pc:spChg chg="add del mod">
          <ac:chgData name="Mary Nyerere" userId="67f06071e6e47045" providerId="LiveId" clId="{337F21E2-DAF5-45CA-959E-A842DA4FB00E}" dt="2026-09-03T06:01:28.971" v="198" actId="1076"/>
          <ac:spMkLst>
            <pc:docMk/>
            <pc:sldMk cId="0" sldId="261"/>
            <ac:spMk id="69" creationId="{E2FB2F0B-AE1A-759D-D360-7DA59BB0F5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80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93" y="46655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7315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PITCH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HealthSecure Systems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Workstation Compromise — Phishing &amp; Credential Reuse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74765" y="46863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ID: 2025-HSS-IR-002    |    Classification: Major Security Incident  |  SANS IR Framework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Group 5  |  Incident Response Analyst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58"/>
    </mc:Choice>
    <mc:Fallback xmlns="">
      <p:transition spd="slow" advTm="1705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SCENARIO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Targeted Attack on Payroll &amp; PII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alert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029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HSS faces reputational and financial damage from exposed payroll and PII data belonging to over 50 healthcare clients — plus potential regulatory exposure given the sensitivity of health-sector data.</a:t>
            </a:r>
            <a:endParaRPr lang="en-US" sz="1350" dirty="0"/>
          </a:p>
        </p:txBody>
      </p:sp>
      <p:pic>
        <p:nvPicPr>
          <p:cNvPr id="8" name="Image 1" descr="icons/target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Cause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7548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credential reuse, enabled by a failed offboarding process that left a former employee's account active and its credentials cached on a Finance workstation.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63640" y="17373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537960" y="1874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18745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clients with data at risk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32461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537960" y="33832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3383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Former-employee accounts found still active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47548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6537960" y="48920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38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4892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initial compromise to attempted DMZ breach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32"/>
    </mc:Choice>
    <mc:Fallback xmlns="">
      <p:transition spd="slow" advTm="468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Investigation Will Deliver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46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Scope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the attacker gained access, which systems and accounts were touched, and how far the intrusion actually reached.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46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an IR Strategy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concrete containment, eradication, and recovery actions grounded directly in the evidence collected.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tren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Business Improvements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root-cause findings into lasting fixes — automated offboarding, centralized logging, and stronger authentication.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37"/>
    </mc:Choice>
    <mc:Fallback xmlns="">
      <p:transition spd="slow" advTm="518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 dirty="0">
                <a:solidFill>
                  <a:srgbClr val="6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</a:t>
            </a:r>
            <a:r>
              <a:rPr lang="en-US" sz="13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SANS IR Framework</a:t>
            </a:r>
            <a:endParaRPr lang="en-US" sz="130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Six-Step Problem-Solving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3566160"/>
            <a:ext cx="92354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1005840" cy="1005840"/>
          </a:xfrm>
          <a:prstGeom prst="ellipse">
            <a:avLst/>
          </a:prstGeom>
          <a:solidFill>
            <a:srgbClr val="5EAEC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87168" y="306324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487168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075688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Vector &amp; Scope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4256" y="306324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34256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&amp; Eradicate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306324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181344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769864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&amp; Monitor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28432" y="306324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028432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0" y="306324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87552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IR Report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3949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scoped, evidenced, and time-boxed in the plan that follows — from first evidence review through the final written report.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88"/>
    </mc:Choice>
    <mc:Fallback xmlns="">
      <p:transition spd="slow" advTm="7868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Evidence, Identify Vector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ile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Review All Evidence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executive summary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 &amp; Zeek network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extract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IR preparedness memo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target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Vector &amp; Scope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25603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entry method (phishing email)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which accounts, hosts, and departments were touched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against the asset inventory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severity: PII/payroll exposure, IP at risk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confirmed / attempted / unconfirmed standard to every claim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69"/>
    </mc:Choice>
    <mc:Fallback xmlns="">
      <p:transition spd="slow" advTm="645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Path We Will Trace</a:t>
            </a:r>
            <a:endParaRPr lang="en-US" sz="32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BDA62E1-2187-9D2A-6B65-3BB6397172AE}"/>
              </a:ext>
            </a:extLst>
          </p:cNvPr>
          <p:cNvSpPr/>
          <p:nvPr/>
        </p:nvSpPr>
        <p:spPr>
          <a:xfrm>
            <a:off x="320040" y="324612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icons/mail_deep.png">
            <a:extLst>
              <a:ext uri="{FF2B5EF4-FFF2-40B4-BE49-F238E27FC236}">
                <a16:creationId xmlns:a16="http://schemas.microsoft.com/office/drawing/2014/main" id="{F958B8F7-FD9D-991D-0C1E-009164CCC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429000"/>
            <a:ext cx="411480" cy="411480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A2129707-2EDA-0A77-A5FB-C54401F4CB9B}"/>
              </a:ext>
            </a:extLst>
          </p:cNvPr>
          <p:cNvSpPr txBox="1"/>
          <p:nvPr/>
        </p:nvSpPr>
        <p:spPr>
          <a:xfrm>
            <a:off x="32004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3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552F336-0419-4D38-FD30-E25A7E3D3DCE}"/>
              </a:ext>
            </a:extLst>
          </p:cNvPr>
          <p:cNvSpPr/>
          <p:nvPr/>
        </p:nvSpPr>
        <p:spPr>
          <a:xfrm>
            <a:off x="2651760" y="3977640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2B07F9C-98E4-F5E2-FF4A-AA607AECC01F}"/>
              </a:ext>
            </a:extLst>
          </p:cNvPr>
          <p:cNvSpPr/>
          <p:nvPr/>
        </p:nvSpPr>
        <p:spPr>
          <a:xfrm>
            <a:off x="2926080" y="324612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icons/alert_white.png">
            <a:extLst>
              <a:ext uri="{FF2B5EF4-FFF2-40B4-BE49-F238E27FC236}">
                <a16:creationId xmlns:a16="http://schemas.microsoft.com/office/drawing/2014/main" id="{6E4F3338-608E-57CD-A828-7847D3862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429000"/>
            <a:ext cx="411480" cy="411480"/>
          </a:xfrm>
          <a:prstGeom prst="rect">
            <a:avLst/>
          </a:prstGeom>
        </p:spPr>
      </p:pic>
      <p:sp>
        <p:nvSpPr>
          <p:cNvPr id="37" name="Text 6">
            <a:extLst>
              <a:ext uri="{FF2B5EF4-FFF2-40B4-BE49-F238E27FC236}">
                <a16:creationId xmlns:a16="http://schemas.microsoft.com/office/drawing/2014/main" id="{0D2E4A59-B397-5587-69AE-D0DAFF035F73}"/>
              </a:ext>
            </a:extLst>
          </p:cNvPr>
          <p:cNvSpPr txBox="1"/>
          <p:nvPr/>
        </p:nvSpPr>
        <p:spPr>
          <a:xfrm>
            <a:off x="292608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Workstation-23 Compromised</a:t>
            </a:r>
            <a:endParaRPr lang="en-US" sz="125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94AD2011-2963-8705-1236-1B32EC78921F}"/>
              </a:ext>
            </a:extLst>
          </p:cNvPr>
          <p:cNvSpPr/>
          <p:nvPr/>
        </p:nvSpPr>
        <p:spPr>
          <a:xfrm flipV="1">
            <a:off x="5257800" y="3611880"/>
            <a:ext cx="349898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0B45710C-1673-9C2B-1051-1B2C4CFB9201}"/>
              </a:ext>
            </a:extLst>
          </p:cNvPr>
          <p:cNvSpPr/>
          <p:nvPr/>
        </p:nvSpPr>
        <p:spPr>
          <a:xfrm>
            <a:off x="5257800" y="3977640"/>
            <a:ext cx="274320" cy="9144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D6EA3099-8BC5-D44C-6D5D-D5AC1543ACE8}"/>
              </a:ext>
            </a:extLst>
          </p:cNvPr>
          <p:cNvSpPr/>
          <p:nvPr/>
        </p:nvSpPr>
        <p:spPr>
          <a:xfrm>
            <a:off x="5532120" y="219456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1E3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2" descr="icons/server_deep.png">
            <a:extLst>
              <a:ext uri="{FF2B5EF4-FFF2-40B4-BE49-F238E27FC236}">
                <a16:creationId xmlns:a16="http://schemas.microsoft.com/office/drawing/2014/main" id="{30883885-1E35-4657-DEF7-21666ED5B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377440"/>
            <a:ext cx="411480" cy="411480"/>
          </a:xfrm>
          <a:prstGeom prst="rect">
            <a:avLst/>
          </a:prstGeom>
        </p:spPr>
      </p:pic>
      <p:sp>
        <p:nvSpPr>
          <p:cNvPr id="47" name="Text 10">
            <a:extLst>
              <a:ext uri="{FF2B5EF4-FFF2-40B4-BE49-F238E27FC236}">
                <a16:creationId xmlns:a16="http://schemas.microsoft.com/office/drawing/2014/main" id="{A88E0007-228D-80BE-0D30-4E638774F7A8}"/>
              </a:ext>
            </a:extLst>
          </p:cNvPr>
          <p:cNvSpPr txBox="1"/>
          <p:nvPr/>
        </p:nvSpPr>
        <p:spPr>
          <a:xfrm>
            <a:off x="5532120" y="2926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HR-SQL01 — SMB/RDP attempted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(potentially exposed)</a:t>
            </a:r>
            <a:endParaRPr lang="en-US" sz="12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CCDA460E-B0B5-67CE-657E-F27D98B38110}"/>
              </a:ext>
            </a:extLst>
          </p:cNvPr>
          <p:cNvSpPr/>
          <p:nvPr/>
        </p:nvSpPr>
        <p:spPr>
          <a:xfrm>
            <a:off x="5532120" y="429768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1E3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3" descr="icons/server_deep.png">
            <a:extLst>
              <a:ext uri="{FF2B5EF4-FFF2-40B4-BE49-F238E27FC236}">
                <a16:creationId xmlns:a16="http://schemas.microsoft.com/office/drawing/2014/main" id="{BBB30D10-4B0D-BC5B-A2C2-66230B98A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80560"/>
            <a:ext cx="411480" cy="411480"/>
          </a:xfrm>
          <a:prstGeom prst="rect">
            <a:avLst/>
          </a:prstGeom>
        </p:spPr>
      </p:pic>
      <p:sp>
        <p:nvSpPr>
          <p:cNvPr id="53" name="Text 12">
            <a:extLst>
              <a:ext uri="{FF2B5EF4-FFF2-40B4-BE49-F238E27FC236}">
                <a16:creationId xmlns:a16="http://schemas.microsoft.com/office/drawing/2014/main" id="{5441A63A-F8F8-0B67-0C06-BEA9C4A4A8EF}"/>
              </a:ext>
            </a:extLst>
          </p:cNvPr>
          <p:cNvSpPr txBox="1"/>
          <p:nvPr/>
        </p:nvSpPr>
        <p:spPr>
          <a:xfrm>
            <a:off x="5532120" y="5029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DevAppServer — SSH attempt failed</a:t>
            </a:r>
            <a:endParaRPr lang="en-US" sz="1200" dirty="0"/>
          </a:p>
        </p:txBody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EBAEDF59-36A5-A22C-4890-33834FD24876}"/>
              </a:ext>
            </a:extLst>
          </p:cNvPr>
          <p:cNvSpPr/>
          <p:nvPr/>
        </p:nvSpPr>
        <p:spPr>
          <a:xfrm>
            <a:off x="4091940" y="470916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41A7808E-C044-D973-5A41-E1850EC2217A}"/>
              </a:ext>
            </a:extLst>
          </p:cNvPr>
          <p:cNvSpPr/>
          <p:nvPr/>
        </p:nvSpPr>
        <p:spPr>
          <a:xfrm>
            <a:off x="320040" y="5029200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4" descr="icons/share_white.png">
            <a:extLst>
              <a:ext uri="{FF2B5EF4-FFF2-40B4-BE49-F238E27FC236}">
                <a16:creationId xmlns:a16="http://schemas.microsoft.com/office/drawing/2014/main" id="{78ADE8E3-96A7-CF98-4F2D-48AFB9765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48072"/>
            <a:ext cx="329184" cy="329184"/>
          </a:xfrm>
          <a:prstGeom prst="rect">
            <a:avLst/>
          </a:prstGeom>
        </p:spPr>
      </p:pic>
      <p:sp>
        <p:nvSpPr>
          <p:cNvPr id="61" name="Text 15">
            <a:extLst>
              <a:ext uri="{FF2B5EF4-FFF2-40B4-BE49-F238E27FC236}">
                <a16:creationId xmlns:a16="http://schemas.microsoft.com/office/drawing/2014/main" id="{A96172BE-6214-A716-A912-BCAA26BB77D9}"/>
              </a:ext>
            </a:extLst>
          </p:cNvPr>
          <p:cNvSpPr txBox="1"/>
          <p:nvPr/>
        </p:nvSpPr>
        <p:spPr>
          <a:xfrm>
            <a:off x="1005840" y="50292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outbound HTTP to 45.77.33.88 (C2) — Zeek + Snort</a:t>
            </a:r>
            <a:endParaRPr lang="en-US" sz="115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067D27B2-43A8-B216-8AE2-1DB33E7A1A1A}"/>
              </a:ext>
            </a:extLst>
          </p:cNvPr>
          <p:cNvSpPr txBox="1"/>
          <p:nvPr/>
        </p:nvSpPr>
        <p:spPr>
          <a:xfrm>
            <a:off x="3200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lateral-movement paths will be classified as confirmed, attempted, or unconfirmed — never assumed.</a:t>
            </a:r>
            <a:endParaRPr lang="en-US" sz="12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0909821B-6C9D-D8CF-9DA9-EE4F50202D6F}"/>
              </a:ext>
            </a:extLst>
          </p:cNvPr>
          <p:cNvSpPr/>
          <p:nvPr/>
        </p:nvSpPr>
        <p:spPr>
          <a:xfrm>
            <a:off x="8229600" y="1508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F0D319A2-69B6-0D02-C47C-C3896973E0A8}"/>
              </a:ext>
            </a:extLst>
          </p:cNvPr>
          <p:cNvSpPr txBox="1"/>
          <p:nvPr/>
        </p:nvSpPr>
        <p:spPr>
          <a:xfrm>
            <a:off x="845820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SEVERITY</a:t>
            </a:r>
            <a:endParaRPr lang="en-US" sz="105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E2FB2F0B-AE1A-759D-D360-7DA59BB0F570}"/>
              </a:ext>
            </a:extLst>
          </p:cNvPr>
          <p:cNvSpPr txBox="1"/>
          <p:nvPr/>
        </p:nvSpPr>
        <p:spPr>
          <a:xfrm>
            <a:off x="845820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30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3D9C3DA5-0A04-D504-05F8-A9382E934957}"/>
              </a:ext>
            </a:extLst>
          </p:cNvPr>
          <p:cNvSpPr txBox="1"/>
          <p:nvPr/>
        </p:nvSpPr>
        <p:spPr>
          <a:xfrm>
            <a:off x="84582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compromise + regulated data at risk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511"/>
    </mc:Choice>
    <mc:Fallback xmlns="">
      <p:transition spd="slow" advTm="815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We Need to Resolve First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calls for flagging what still needs to be determined before full investigation begins. These four questions shape how Steps 1–2 will be scoped.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phishing click lead to jcampbell's logon?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who clicked the link and the account used for the first logon are different. The mechanism connecting them is not yet confirmed.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5508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974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other 3 stale accounts?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audit flagged 4 former-employee accounts still active. Only jcampbell is confirmed involved in this incident — the rest are unidentified.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0060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617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jcampbell's credentials exist on a Finance PC?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jcampbell was a developer. Cross-departmental credential presence on a Finance workstation is itself unexplained and worth investigating.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44348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55080" y="4663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8006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40880" y="4617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privilege level did the account actually hold?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install suggests local admin rights, but broader domain-level privileges are not confirmed from available evidence.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 &amp; Eradication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(Immediate)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affected workstation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outbound traffic to malicious domains/IP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compromised/stale accounts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credential resets (Finance &amp; HR)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full logging on critical systems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shield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(Prevent Recurrence)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25603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on remote &amp; admin accounts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Finance, HR, and Dev networks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and harden all critical systems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phishing-resistant email security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every step in eradication before recovery begins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&amp; Post-Incident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refre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Re-image affected hosts from clean backups; verify data integrity before rejoining the domain.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840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malware/vulnerability scans and a targeted penetration test across the affected segments.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840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SIEM/EDR watchlists for this attack's patterns and expand honeypot coverage in the DMZ.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Lessons Learned &amp; Preparedness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4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heck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Expect Worked Well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IDS/network detection (Snort, Zeek)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EDR corroboration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SOC isolation of the workstation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honeypot catching a missed intrusion attempt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5E6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alert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We Will Assess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offboarding process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PowerShell logging (~30% of endpoints)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SIEM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2022 IR playbook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phishing simulations or tabletop drills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Complete the IR Report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of the provided template will be completed in clear, professional language, with every decision tied directly back to evidence from the investigation.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Identification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9611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47472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21792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7824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96112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Project Scoping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607040" cy="27279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Process Step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Est. Hours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1. Organize &amp; review evidence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 – 3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Review all logs, alerts, email, and asset data; build the initial IoC list and timeline.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2. Identify attack vector &amp; scope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 – 3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Correlate evidence to confirm access method, trace lateral movement, assess business impact.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3. Develop containment &amp; eradication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1.5 – 2.5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Build realistic short- and long-term strategies, each tied to specific evidence.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4. Plan recovery &amp; monitoring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 – 2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Design restoration, verification, and post-recovery monitoring steps.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5. Analyze lessons learned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 – 1.5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Review organizational gaps and recommend preparedness improvements.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6. Write the IR report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 – 4 hrs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Complete the full template with clear, evidence-cited writing.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effort: roughly 9.5 – 16 hours across the full investigation and reporting cycle.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2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70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Offboarding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IAM to guarantee instant deactivation of departing employees' accounts.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2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26060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706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Logging Gaps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SIEM and enforce full PowerShell and Linux/DMZ logging coverage.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2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0" y="26060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7706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Authentication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across all remote access and administrative accounts.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4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HealthSecure Systems — IR Pitch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2025-HSS-IR-002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1132</Words>
  <Application>Microsoft Office PowerPoint</Application>
  <PresentationFormat>Widescreen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Nyerere</cp:lastModifiedBy>
  <cp:revision>2</cp:revision>
  <dcterms:created xsi:type="dcterms:W3CDTF">2026-09-02T07:00:27Z</dcterms:created>
  <dcterms:modified xsi:type="dcterms:W3CDTF">2026-09-04T06:13:28Z</dcterms:modified>
</cp:coreProperties>
</file>